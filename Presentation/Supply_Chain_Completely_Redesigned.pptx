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ri maragada" userId="cea519f679a7af10" providerId="LiveId" clId="{91C5E059-FB7B-4FC1-8177-F947D8DB3385}"/>
    <pc:docChg chg="undo custSel modSld">
      <pc:chgData name="siri maragada" userId="cea519f679a7af10" providerId="LiveId" clId="{91C5E059-FB7B-4FC1-8177-F947D8DB3385}" dt="2026-08-17T15:52:02.223" v="240" actId="403"/>
      <pc:docMkLst>
        <pc:docMk/>
      </pc:docMkLst>
      <pc:sldChg chg="modSp mod">
        <pc:chgData name="siri maragada" userId="cea519f679a7af10" providerId="LiveId" clId="{91C5E059-FB7B-4FC1-8177-F947D8DB3385}" dt="2026-08-17T15:41:44.065" v="16" actId="1076"/>
        <pc:sldMkLst>
          <pc:docMk/>
          <pc:sldMk cId="0" sldId="256"/>
        </pc:sldMkLst>
        <pc:spChg chg="mod">
          <ac:chgData name="siri maragada" userId="cea519f679a7af10" providerId="LiveId" clId="{91C5E059-FB7B-4FC1-8177-F947D8DB3385}" dt="2026-08-17T15:41:44.065" v="16" actId="1076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siri maragada" userId="cea519f679a7af10" providerId="LiveId" clId="{91C5E059-FB7B-4FC1-8177-F947D8DB3385}" dt="2026-08-17T15:41:35.640" v="15" actId="404"/>
        <pc:sldMkLst>
          <pc:docMk/>
          <pc:sldMk cId="0" sldId="257"/>
        </pc:sldMkLst>
        <pc:spChg chg="mod">
          <ac:chgData name="siri maragada" userId="cea519f679a7af10" providerId="LiveId" clId="{91C5E059-FB7B-4FC1-8177-F947D8DB3385}" dt="2026-08-17T15:41:35.640" v="15" actId="404"/>
          <ac:spMkLst>
            <pc:docMk/>
            <pc:sldMk cId="0" sldId="257"/>
            <ac:spMk id="24" creationId="{00000000-0000-0000-0000-000000000000}"/>
          </ac:spMkLst>
        </pc:spChg>
      </pc:sldChg>
      <pc:sldChg chg="modSp mod">
        <pc:chgData name="siri maragada" userId="cea519f679a7af10" providerId="LiveId" clId="{91C5E059-FB7B-4FC1-8177-F947D8DB3385}" dt="2026-08-17T15:41:52.781" v="21" actId="404"/>
        <pc:sldMkLst>
          <pc:docMk/>
          <pc:sldMk cId="0" sldId="258"/>
        </pc:sldMkLst>
        <pc:spChg chg="mod">
          <ac:chgData name="siri maragada" userId="cea519f679a7af10" providerId="LiveId" clId="{91C5E059-FB7B-4FC1-8177-F947D8DB3385}" dt="2026-08-17T15:40:48.034" v="1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1:09.722" v="7" actId="403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0:55.366" v="3" actId="403"/>
          <ac:spMkLst>
            <pc:docMk/>
            <pc:sldMk cId="0" sldId="258"/>
            <ac:spMk id="21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1:04.771" v="5" actId="403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1:52.781" v="21" actId="404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siri maragada" userId="cea519f679a7af10" providerId="LiveId" clId="{91C5E059-FB7B-4FC1-8177-F947D8DB3385}" dt="2026-08-17T15:42:00.421" v="24" actId="403"/>
        <pc:sldMkLst>
          <pc:docMk/>
          <pc:sldMk cId="0" sldId="259"/>
        </pc:sldMkLst>
        <pc:spChg chg="mod">
          <ac:chgData name="siri maragada" userId="cea519f679a7af10" providerId="LiveId" clId="{91C5E059-FB7B-4FC1-8177-F947D8DB3385}" dt="2026-08-17T15:42:00.421" v="24" actId="403"/>
          <ac:spMkLst>
            <pc:docMk/>
            <pc:sldMk cId="0" sldId="259"/>
            <ac:spMk id="31" creationId="{00000000-0000-0000-0000-000000000000}"/>
          </ac:spMkLst>
        </pc:spChg>
      </pc:sldChg>
      <pc:sldChg chg="modSp mod">
        <pc:chgData name="siri maragada" userId="cea519f679a7af10" providerId="LiveId" clId="{91C5E059-FB7B-4FC1-8177-F947D8DB3385}" dt="2026-08-17T15:43:00.977" v="47" actId="14100"/>
        <pc:sldMkLst>
          <pc:docMk/>
          <pc:sldMk cId="0" sldId="260"/>
        </pc:sldMkLst>
        <pc:spChg chg="mod">
          <ac:chgData name="siri maragada" userId="cea519f679a7af10" providerId="LiveId" clId="{91C5E059-FB7B-4FC1-8177-F947D8DB3385}" dt="2026-08-17T15:42:16.988" v="27" actId="403"/>
          <ac:spMkLst>
            <pc:docMk/>
            <pc:sldMk cId="0" sldId="260"/>
            <ac:spMk id="35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2:24.719" v="31" actId="403"/>
          <ac:spMkLst>
            <pc:docMk/>
            <pc:sldMk cId="0" sldId="260"/>
            <ac:spMk id="48" creationId="{58747426-7846-20DE-1301-AEABC56F69B4}"/>
          </ac:spMkLst>
        </pc:spChg>
        <pc:spChg chg="mod">
          <ac:chgData name="siri maragada" userId="cea519f679a7af10" providerId="LiveId" clId="{91C5E059-FB7B-4FC1-8177-F947D8DB3385}" dt="2026-08-17T15:42:38.752" v="35" actId="403"/>
          <ac:spMkLst>
            <pc:docMk/>
            <pc:sldMk cId="0" sldId="260"/>
            <ac:spMk id="54" creationId="{B7229A36-4E65-1BED-D264-101822648977}"/>
          </ac:spMkLst>
        </pc:spChg>
        <pc:spChg chg="mod">
          <ac:chgData name="siri maragada" userId="cea519f679a7af10" providerId="LiveId" clId="{91C5E059-FB7B-4FC1-8177-F947D8DB3385}" dt="2026-08-17T15:42:46.157" v="41" actId="404"/>
          <ac:spMkLst>
            <pc:docMk/>
            <pc:sldMk cId="0" sldId="260"/>
            <ac:spMk id="60" creationId="{1CEA72DD-A88A-BB49-EED5-923F175B7B6B}"/>
          </ac:spMkLst>
        </pc:spChg>
        <pc:spChg chg="mod">
          <ac:chgData name="siri maragada" userId="cea519f679a7af10" providerId="LiveId" clId="{91C5E059-FB7B-4FC1-8177-F947D8DB3385}" dt="2026-08-17T15:42:54.012" v="45" actId="403"/>
          <ac:spMkLst>
            <pc:docMk/>
            <pc:sldMk cId="0" sldId="260"/>
            <ac:spMk id="66" creationId="{0B997D2E-DE53-6210-25B3-A4FDF6C9EAC0}"/>
          </ac:spMkLst>
        </pc:spChg>
        <pc:picChg chg="mod">
          <ac:chgData name="siri maragada" userId="cea519f679a7af10" providerId="LiveId" clId="{91C5E059-FB7B-4FC1-8177-F947D8DB3385}" dt="2026-08-17T15:43:00.977" v="47" actId="14100"/>
          <ac:picMkLst>
            <pc:docMk/>
            <pc:sldMk cId="0" sldId="260"/>
            <ac:picMk id="38" creationId="{16609C43-42B0-00DE-4383-B2E43E8340D5}"/>
          </ac:picMkLst>
        </pc:picChg>
      </pc:sldChg>
      <pc:sldChg chg="modSp mod">
        <pc:chgData name="siri maragada" userId="cea519f679a7af10" providerId="LiveId" clId="{91C5E059-FB7B-4FC1-8177-F947D8DB3385}" dt="2026-08-17T15:44:40.079" v="81" actId="404"/>
        <pc:sldMkLst>
          <pc:docMk/>
          <pc:sldMk cId="0" sldId="261"/>
        </pc:sldMkLst>
        <pc:spChg chg="mod">
          <ac:chgData name="siri maragada" userId="cea519f679a7af10" providerId="LiveId" clId="{91C5E059-FB7B-4FC1-8177-F947D8DB3385}" dt="2026-08-17T15:43:28.466" v="52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3:41.355" v="56" actId="403"/>
          <ac:spMkLst>
            <pc:docMk/>
            <pc:sldMk cId="0" sldId="261"/>
            <ac:spMk id="16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3:48.900" v="60" actId="403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3:56.585" v="64" actId="403"/>
          <ac:spMkLst>
            <pc:docMk/>
            <pc:sldMk cId="0" sldId="261"/>
            <ac:spMk id="26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4:03.767" v="68" actId="403"/>
          <ac:spMkLst>
            <pc:docMk/>
            <pc:sldMk cId="0" sldId="261"/>
            <ac:spMk id="31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4:08.314" v="72" actId="403"/>
          <ac:spMkLst>
            <pc:docMk/>
            <pc:sldMk cId="0" sldId="261"/>
            <ac:spMk id="35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4:40.079" v="81" actId="404"/>
          <ac:spMkLst>
            <pc:docMk/>
            <pc:sldMk cId="0" sldId="261"/>
            <ac:spMk id="38" creationId="{00000000-0000-0000-0000-000000000000}"/>
          </ac:spMkLst>
        </pc:spChg>
      </pc:sldChg>
      <pc:sldChg chg="modSp mod">
        <pc:chgData name="siri maragada" userId="cea519f679a7af10" providerId="LiveId" clId="{91C5E059-FB7B-4FC1-8177-F947D8DB3385}" dt="2026-08-17T15:46:02.135" v="115" actId="1076"/>
        <pc:sldMkLst>
          <pc:docMk/>
          <pc:sldMk cId="0" sldId="262"/>
        </pc:sldMkLst>
        <pc:spChg chg="mod">
          <ac:chgData name="siri maragada" userId="cea519f679a7af10" providerId="LiveId" clId="{91C5E059-FB7B-4FC1-8177-F947D8DB3385}" dt="2026-08-17T15:45:01.708" v="91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5:14.106" v="95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5:18.809" v="96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5:29.052" v="101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5:47.403" v="108" actId="404"/>
          <ac:spMkLst>
            <pc:docMk/>
            <pc:sldMk cId="0" sldId="262"/>
            <ac:spMk id="26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6:02.135" v="115" actId="1076"/>
          <ac:spMkLst>
            <pc:docMk/>
            <pc:sldMk cId="0" sldId="262"/>
            <ac:spMk id="30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4:50.255" v="86" actId="404"/>
          <ac:spMkLst>
            <pc:docMk/>
            <pc:sldMk cId="0" sldId="262"/>
            <ac:spMk id="31" creationId="{00000000-0000-0000-0000-000000000000}"/>
          </ac:spMkLst>
        </pc:spChg>
      </pc:sldChg>
      <pc:sldChg chg="delSp modSp mod">
        <pc:chgData name="siri maragada" userId="cea519f679a7af10" providerId="LiveId" clId="{91C5E059-FB7B-4FC1-8177-F947D8DB3385}" dt="2026-08-17T15:49:49.837" v="190" actId="403"/>
        <pc:sldMkLst>
          <pc:docMk/>
          <pc:sldMk cId="0" sldId="263"/>
        </pc:sldMkLst>
        <pc:spChg chg="mod">
          <ac:chgData name="siri maragada" userId="cea519f679a7af10" providerId="LiveId" clId="{91C5E059-FB7B-4FC1-8177-F947D8DB3385}" dt="2026-08-17T15:49:49.837" v="190" actId="403"/>
          <ac:spMkLst>
            <pc:docMk/>
            <pc:sldMk cId="0" sldId="263"/>
            <ac:spMk id="31" creationId="{00000000-0000-0000-0000-000000000000}"/>
          </ac:spMkLst>
        </pc:spChg>
        <pc:spChg chg="del">
          <ac:chgData name="siri maragada" userId="cea519f679a7af10" providerId="LiveId" clId="{91C5E059-FB7B-4FC1-8177-F947D8DB3385}" dt="2026-08-17T15:49:44.431" v="187" actId="478"/>
          <ac:spMkLst>
            <pc:docMk/>
            <pc:sldMk cId="0" sldId="263"/>
            <ac:spMk id="32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6:18.377" v="119" actId="1076"/>
          <ac:spMkLst>
            <pc:docMk/>
            <pc:sldMk cId="0" sldId="263"/>
            <ac:spMk id="43" creationId="{C432D1FF-4317-FB72-FF33-321BB9F3D5BB}"/>
          </ac:spMkLst>
        </pc:spChg>
        <pc:spChg chg="mod">
          <ac:chgData name="siri maragada" userId="cea519f679a7af10" providerId="LiveId" clId="{91C5E059-FB7B-4FC1-8177-F947D8DB3385}" dt="2026-08-17T15:46:28.843" v="124" actId="1076"/>
          <ac:spMkLst>
            <pc:docMk/>
            <pc:sldMk cId="0" sldId="263"/>
            <ac:spMk id="44" creationId="{CF445E74-3D85-4352-4A24-81299438B36B}"/>
          </ac:spMkLst>
        </pc:spChg>
        <pc:spChg chg="mod">
          <ac:chgData name="siri maragada" userId="cea519f679a7af10" providerId="LiveId" clId="{91C5E059-FB7B-4FC1-8177-F947D8DB3385}" dt="2026-08-17T15:46:32.527" v="125" actId="403"/>
          <ac:spMkLst>
            <pc:docMk/>
            <pc:sldMk cId="0" sldId="263"/>
            <ac:spMk id="45" creationId="{433869FB-6604-20D8-B6C1-FCBAD171D016}"/>
          </ac:spMkLst>
        </pc:spChg>
        <pc:spChg chg="mod">
          <ac:chgData name="siri maragada" userId="cea519f679a7af10" providerId="LiveId" clId="{91C5E059-FB7B-4FC1-8177-F947D8DB3385}" dt="2026-08-17T15:46:47.546" v="128" actId="1076"/>
          <ac:spMkLst>
            <pc:docMk/>
            <pc:sldMk cId="0" sldId="263"/>
            <ac:spMk id="46" creationId="{200BF592-3407-0DC6-9AC0-57E9488AD3DA}"/>
          </ac:spMkLst>
        </pc:spChg>
        <pc:spChg chg="mod">
          <ac:chgData name="siri maragada" userId="cea519f679a7af10" providerId="LiveId" clId="{91C5E059-FB7B-4FC1-8177-F947D8DB3385}" dt="2026-08-17T15:46:59.742" v="132" actId="1076"/>
          <ac:spMkLst>
            <pc:docMk/>
            <pc:sldMk cId="0" sldId="263"/>
            <ac:spMk id="47" creationId="{9CCB2600-8927-2983-A774-D2C3924ED1C1}"/>
          </ac:spMkLst>
        </pc:spChg>
      </pc:sldChg>
      <pc:sldChg chg="modSp mod">
        <pc:chgData name="siri maragada" userId="cea519f679a7af10" providerId="LiveId" clId="{91C5E059-FB7B-4FC1-8177-F947D8DB3385}" dt="2026-08-17T15:50:05.090" v="195" actId="404"/>
        <pc:sldMkLst>
          <pc:docMk/>
          <pc:sldMk cId="0" sldId="264"/>
        </pc:sldMkLst>
        <pc:spChg chg="mod">
          <ac:chgData name="siri maragada" userId="cea519f679a7af10" providerId="LiveId" clId="{91C5E059-FB7B-4FC1-8177-F947D8DB3385}" dt="2026-08-17T15:47:19.867" v="137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7:31.158" v="142" actId="107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7:43.349" v="147" actId="107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7:51.211" v="149" actId="107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8:07.691" v="154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50:05.090" v="195" actId="404"/>
          <ac:spMkLst>
            <pc:docMk/>
            <pc:sldMk cId="0" sldId="264"/>
            <ac:spMk id="31" creationId="{00000000-0000-0000-0000-000000000000}"/>
          </ac:spMkLst>
        </pc:spChg>
      </pc:sldChg>
      <pc:sldChg chg="modSp mod">
        <pc:chgData name="siri maragada" userId="cea519f679a7af10" providerId="LiveId" clId="{91C5E059-FB7B-4FC1-8177-F947D8DB3385}" dt="2026-08-17T15:50:17.198" v="200" actId="404"/>
        <pc:sldMkLst>
          <pc:docMk/>
          <pc:sldMk cId="0" sldId="265"/>
        </pc:sldMkLst>
        <pc:spChg chg="mod">
          <ac:chgData name="siri maragada" userId="cea519f679a7af10" providerId="LiveId" clId="{91C5E059-FB7B-4FC1-8177-F947D8DB3385}" dt="2026-08-17T15:48:25.204" v="161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8:46.660" v="173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9:07.427" v="179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9:23.357" v="186" actId="1076"/>
          <ac:spMkLst>
            <pc:docMk/>
            <pc:sldMk cId="0" sldId="265"/>
            <ac:spMk id="30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50:17.198" v="200" actId="404"/>
          <ac:spMkLst>
            <pc:docMk/>
            <pc:sldMk cId="0" sldId="265"/>
            <ac:spMk id="31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48:34.267" v="167" actId="14100"/>
          <ac:spMkLst>
            <pc:docMk/>
            <pc:sldMk cId="0" sldId="265"/>
            <ac:spMk id="36" creationId="{123F44DE-A4E5-D898-EE38-77DDA74C6F51}"/>
          </ac:spMkLst>
        </pc:spChg>
      </pc:sldChg>
      <pc:sldChg chg="modSp mod">
        <pc:chgData name="siri maragada" userId="cea519f679a7af10" providerId="LiveId" clId="{91C5E059-FB7B-4FC1-8177-F947D8DB3385}" dt="2026-08-17T15:51:29.667" v="230" actId="1076"/>
        <pc:sldMkLst>
          <pc:docMk/>
          <pc:sldMk cId="0" sldId="266"/>
        </pc:sldMkLst>
        <pc:spChg chg="mod">
          <ac:chgData name="siri maragada" userId="cea519f679a7af10" providerId="LiveId" clId="{91C5E059-FB7B-4FC1-8177-F947D8DB3385}" dt="2026-08-17T15:50:41.899" v="208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50:55.252" v="213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51:09.992" v="220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51:20.433" v="225" actId="1076"/>
          <ac:spMkLst>
            <pc:docMk/>
            <pc:sldMk cId="0" sldId="266"/>
            <ac:spMk id="26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51:29.667" v="230" actId="1076"/>
          <ac:spMkLst>
            <pc:docMk/>
            <pc:sldMk cId="0" sldId="266"/>
            <ac:spMk id="30" creationId="{00000000-0000-0000-0000-000000000000}"/>
          </ac:spMkLst>
        </pc:spChg>
        <pc:spChg chg="mod">
          <ac:chgData name="siri maragada" userId="cea519f679a7af10" providerId="LiveId" clId="{91C5E059-FB7B-4FC1-8177-F947D8DB3385}" dt="2026-08-17T15:50:25.198" v="203" actId="403"/>
          <ac:spMkLst>
            <pc:docMk/>
            <pc:sldMk cId="0" sldId="266"/>
            <ac:spMk id="31" creationId="{00000000-0000-0000-0000-000000000000}"/>
          </ac:spMkLst>
        </pc:spChg>
      </pc:sldChg>
      <pc:sldChg chg="modSp mod">
        <pc:chgData name="siri maragada" userId="cea519f679a7af10" providerId="LiveId" clId="{91C5E059-FB7B-4FC1-8177-F947D8DB3385}" dt="2026-08-17T15:51:40.358" v="233" actId="403"/>
        <pc:sldMkLst>
          <pc:docMk/>
          <pc:sldMk cId="0" sldId="267"/>
        </pc:sldMkLst>
        <pc:spChg chg="mod">
          <ac:chgData name="siri maragada" userId="cea519f679a7af10" providerId="LiveId" clId="{91C5E059-FB7B-4FC1-8177-F947D8DB3385}" dt="2026-08-17T15:51:40.358" v="233" actId="403"/>
          <ac:spMkLst>
            <pc:docMk/>
            <pc:sldMk cId="0" sldId="267"/>
            <ac:spMk id="27" creationId="{00000000-0000-0000-0000-000000000000}"/>
          </ac:spMkLst>
        </pc:spChg>
      </pc:sldChg>
      <pc:sldChg chg="modSp mod">
        <pc:chgData name="siri maragada" userId="cea519f679a7af10" providerId="LiveId" clId="{91C5E059-FB7B-4FC1-8177-F947D8DB3385}" dt="2026-08-17T15:51:54.011" v="237" actId="403"/>
        <pc:sldMkLst>
          <pc:docMk/>
          <pc:sldMk cId="0" sldId="269"/>
        </pc:sldMkLst>
        <pc:spChg chg="mod">
          <ac:chgData name="siri maragada" userId="cea519f679a7af10" providerId="LiveId" clId="{91C5E059-FB7B-4FC1-8177-F947D8DB3385}" dt="2026-08-17T15:51:54.011" v="237" actId="403"/>
          <ac:spMkLst>
            <pc:docMk/>
            <pc:sldMk cId="0" sldId="269"/>
            <ac:spMk id="21" creationId="{00000000-0000-0000-0000-000000000000}"/>
          </ac:spMkLst>
        </pc:spChg>
      </pc:sldChg>
      <pc:sldChg chg="modSp mod">
        <pc:chgData name="siri maragada" userId="cea519f679a7af10" providerId="LiveId" clId="{91C5E059-FB7B-4FC1-8177-F947D8DB3385}" dt="2026-08-17T15:52:02.223" v="240" actId="403"/>
        <pc:sldMkLst>
          <pc:docMk/>
          <pc:sldMk cId="0" sldId="270"/>
        </pc:sldMkLst>
        <pc:spChg chg="mod">
          <ac:chgData name="siri maragada" userId="cea519f679a7af10" providerId="LiveId" clId="{91C5E059-FB7B-4FC1-8177-F947D8DB3385}" dt="2026-08-17T15:52:02.223" v="240" actId="403"/>
          <ac:spMkLst>
            <pc:docMk/>
            <pc:sldMk cId="0" sldId="270"/>
            <ac:spMk id="2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aicharankomati/dataco-supply-chain-datase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B5C4E"/>
                </a:solidFill>
                <a:latin typeface="Aptos"/>
              </a:rPr>
              <a:t>DATA ×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17320"/>
            <a:ext cx="77724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dirty="0">
                <a:solidFill>
                  <a:srgbClr val="FFFFFF"/>
                </a:solidFill>
                <a:latin typeface="Aptos"/>
              </a:rPr>
              <a:t>Supply Chain
Visibility </a:t>
            </a:r>
            <a:r>
              <a:rPr lang="en-US" sz="3900" b="1" dirty="0">
                <a:solidFill>
                  <a:srgbClr val="FFFFFF"/>
                </a:solidFill>
                <a:latin typeface="Aptos"/>
              </a:rPr>
              <a:t>System and Optimization Analytics</a:t>
            </a:r>
            <a:endParaRPr sz="39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353872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DD3DC"/>
                </a:solidFill>
                <a:latin typeface="Aptos"/>
              </a:rPr>
              <a:t>End-to-End Logistics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4050792"/>
            <a:ext cx="1371600" cy="73152"/>
          </a:xfrm>
          <a:prstGeom prst="rect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224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C5D0"/>
                </a:solidFill>
                <a:latin typeface="Aptos"/>
              </a:rPr>
              <a:t>Built on Power BI  ·  DataCo Global Supply Chain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910" y="6175445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BEC5D0"/>
                </a:solidFill>
                <a:latin typeface="Aptos"/>
              </a:rPr>
              <a:t>Infosys Springboard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5C4E"/>
                </a:solidFill>
                <a:latin typeface="Aptos"/>
              </a:rPr>
              <a:t>01 / WHY THIS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dirty="0">
                <a:solidFill>
                  <a:srgbClr val="14181F"/>
                </a:solidFill>
                <a:latin typeface="Aptos"/>
              </a:rPr>
              <a:t>From fragmented data to one operating view</a:t>
            </a:r>
          </a:p>
        </p:txBody>
      </p:sp>
      <p:sp>
        <p:nvSpPr>
          <p:cNvPr id="4" name="Oval 3"/>
          <p:cNvSpPr/>
          <p:nvPr/>
        </p:nvSpPr>
        <p:spPr>
          <a:xfrm>
            <a:off x="11064240" y="384048"/>
            <a:ext cx="530352" cy="530352"/>
          </a:xfrm>
          <a:prstGeom prst="ellipse">
            <a:avLst/>
          </a:prstGeom>
          <a:solidFill>
            <a:srgbClr val="14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6635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81360" cy="22860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9987" y="4451309"/>
            <a:ext cx="10452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4181F"/>
                </a:solidFill>
                <a:latin typeface="Aptos"/>
              </a:rPr>
              <a:t>A single Power BI experience that connects the moving parts of a supply 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77046"/>
            <a:ext cx="32461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2023934"/>
            <a:ext cx="438912" cy="438912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151950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6401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81F"/>
                </a:solidFill>
                <a:latin typeface="Aptos"/>
              </a:rPr>
              <a:t>360°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8463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686C74"/>
                </a:solidFill>
                <a:latin typeface="Aptos"/>
              </a:rPr>
              <a:t>Visibility across 5 supply chain 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8433" y="1863557"/>
            <a:ext cx="32461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47033" y="2110445"/>
            <a:ext cx="438912" cy="438912"/>
          </a:xfrm>
          <a:prstGeom prst="ellipse">
            <a:avLst/>
          </a:prstGeom>
          <a:solidFill>
            <a:srgbClr val="3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47033" y="2238461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7033" y="275052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81F"/>
                </a:solidFill>
                <a:latin typeface="Aptos"/>
              </a:rPr>
              <a:t>ONE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7033" y="317114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6C74"/>
                </a:solidFill>
                <a:latin typeface="Aptos"/>
              </a:rPr>
              <a:t>Centralized executive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847697"/>
            <a:ext cx="32461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046720" y="2094585"/>
            <a:ext cx="438912" cy="438912"/>
          </a:xfrm>
          <a:prstGeom prst="ellipse">
            <a:avLst/>
          </a:prstGeom>
          <a:solidFill>
            <a:srgbClr val="3F9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2222601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73466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181F"/>
                </a:solidFill>
                <a:latin typeface="Aptos"/>
              </a:rPr>
              <a:t>KPI-LED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15528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6C74"/>
                </a:solidFill>
                <a:latin typeface="Aptos"/>
              </a:rPr>
              <a:t>Decisions instead of guesswork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228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A5ACB7"/>
                </a:solidFill>
                <a:latin typeface="Aptos"/>
              </a:rPr>
              <a:t>INFOSYS SPRINGBOARD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5C4E"/>
                </a:solidFill>
                <a:latin typeface="Aptos"/>
              </a:rPr>
              <a:t>02 /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81F"/>
                </a:solidFill>
                <a:latin typeface="Aptos"/>
              </a:rPr>
              <a:t>Where supply-chain visibility breaks down</a:t>
            </a:r>
          </a:p>
        </p:txBody>
      </p:sp>
      <p:sp>
        <p:nvSpPr>
          <p:cNvPr id="4" name="Oval 3"/>
          <p:cNvSpPr/>
          <p:nvPr/>
        </p:nvSpPr>
        <p:spPr>
          <a:xfrm>
            <a:off x="11064240" y="384048"/>
            <a:ext cx="530352" cy="530352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6635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81360" cy="22860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1600200"/>
          </a:xfrm>
          <a:prstGeom prst="rect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9202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5C4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874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81F"/>
                </a:solidFill>
                <a:latin typeface="Aptos"/>
              </a:rPr>
              <a:t>Inventory inefficiencies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2350008"/>
            <a:ext cx="3749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86C74"/>
                </a:solidFill>
                <a:latin typeface="Aptos"/>
              </a:rPr>
              <a:t>Slow-moving and dead stock go unnoticed until it is costly</a:t>
            </a:r>
            <a:r>
              <a:rPr sz="1100" b="0" dirty="0">
                <a:solidFill>
                  <a:srgbClr val="686C74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91640"/>
            <a:ext cx="50749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44768" y="1691640"/>
            <a:ext cx="82296" cy="1600200"/>
          </a:xfrm>
          <a:prstGeom prst="rect">
            <a:avLst/>
          </a:prstGeom>
          <a:solidFill>
            <a:srgbClr val="3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6" y="19202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A68AA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874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81F"/>
                </a:solidFill>
                <a:latin typeface="Aptos"/>
              </a:rPr>
              <a:t>Delayed deliveries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2350008"/>
            <a:ext cx="3749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86C74"/>
                </a:solidFill>
                <a:latin typeface="Aptos"/>
              </a:rPr>
              <a:t>No consolidated tracking of on-time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49039"/>
            <a:ext cx="50749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3749039"/>
            <a:ext cx="82296" cy="1600200"/>
          </a:xfrm>
          <a:prstGeom prst="rect">
            <a:avLst/>
          </a:prstGeom>
          <a:solidFill>
            <a:srgbClr val="F4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977639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A442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81F"/>
                </a:solidFill>
                <a:latin typeface="Aptos"/>
              </a:rPr>
              <a:t>Rising transportation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407407"/>
            <a:ext cx="3749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86C74"/>
                </a:solidFill>
                <a:latin typeface="Aptos"/>
              </a:rPr>
              <a:t>Route and carrier spend isn't compared systematically.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749039"/>
            <a:ext cx="50749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768" y="3749039"/>
            <a:ext cx="82296" cy="1600200"/>
          </a:xfrm>
          <a:prstGeom prst="rect">
            <a:avLst/>
          </a:prstGeom>
          <a:solidFill>
            <a:srgbClr val="3F9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37376" y="3977639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F916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81F"/>
                </a:solidFill>
                <a:latin typeface="Aptos"/>
              </a:rPr>
              <a:t>Supplier-related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4407407"/>
            <a:ext cx="3749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86C74"/>
                </a:solidFill>
                <a:latin typeface="Aptos"/>
              </a:rPr>
              <a:t>Reliability and quality issues surface too late.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10528"/>
            <a:ext cx="228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A5ACB7"/>
                </a:solidFill>
                <a:latin typeface="Aptos"/>
              </a:rPr>
              <a:t>INFOSYS SPRINGBOARD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5C4E"/>
                </a:solidFill>
                <a:latin typeface="Aptos"/>
              </a:rPr>
              <a:t>03 / THE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81F"/>
                </a:solidFill>
                <a:latin typeface="Aptos"/>
              </a:rPr>
              <a:t>Six objectives. One decision layer.</a:t>
            </a:r>
          </a:p>
        </p:txBody>
      </p:sp>
      <p:sp>
        <p:nvSpPr>
          <p:cNvPr id="4" name="Oval 3"/>
          <p:cNvSpPr/>
          <p:nvPr/>
        </p:nvSpPr>
        <p:spPr>
          <a:xfrm>
            <a:off x="11064240" y="384048"/>
            <a:ext cx="530352" cy="530352"/>
          </a:xfrm>
          <a:prstGeom prst="ellipse">
            <a:avLst/>
          </a:prstGeom>
          <a:solidFill>
            <a:srgbClr val="14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6635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81360" cy="22860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3232" y="1664208"/>
            <a:ext cx="347472" cy="347472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760220"/>
            <a:ext cx="3474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655064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81F"/>
                </a:solidFill>
                <a:latin typeface="Aptos"/>
              </a:rPr>
              <a:t>Unify supply-chain sources into one data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2157984"/>
            <a:ext cx="9326880" cy="16459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13232" y="2377440"/>
            <a:ext cx="347472" cy="347472"/>
          </a:xfrm>
          <a:prstGeom prst="ellipse">
            <a:avLst/>
          </a:prstGeom>
          <a:solidFill>
            <a:srgbClr val="3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473452"/>
            <a:ext cx="3474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368296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81F"/>
                </a:solidFill>
                <a:latin typeface="Aptos"/>
              </a:rPr>
              <a:t>Flag slow-moving vs. fast-moving inventory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2871216"/>
            <a:ext cx="9326880" cy="16459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3232" y="3090672"/>
            <a:ext cx="347472" cy="347472"/>
          </a:xfrm>
          <a:prstGeom prst="ellipse">
            <a:avLst/>
          </a:prstGeom>
          <a:solidFill>
            <a:srgbClr val="F4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186684"/>
            <a:ext cx="3474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081528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81F"/>
                </a:solidFill>
                <a:latin typeface="Aptos"/>
              </a:rPr>
              <a:t>Track on-time delivery and lead times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1872" y="3584448"/>
            <a:ext cx="9326880" cy="16459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3232" y="3803904"/>
            <a:ext cx="347472" cy="347472"/>
          </a:xfrm>
          <a:prstGeom prst="ellipse">
            <a:avLst/>
          </a:prstGeom>
          <a:solidFill>
            <a:srgbClr val="3F9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899916"/>
            <a:ext cx="3474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794760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81F"/>
                </a:solidFill>
                <a:latin typeface="Aptos"/>
              </a:rPr>
              <a:t>Score supplier reliability and quality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61872" y="4297680"/>
            <a:ext cx="9326880" cy="16459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3232" y="4517136"/>
            <a:ext cx="347472" cy="347472"/>
          </a:xfrm>
          <a:prstGeom prst="ellipse">
            <a:avLst/>
          </a:prstGeom>
          <a:solidFill>
            <a:srgbClr val="745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613148"/>
            <a:ext cx="3474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507992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81F"/>
                </a:solidFill>
                <a:latin typeface="Aptos"/>
              </a:rPr>
              <a:t>Monitor transport cost and warehouse utilization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61872" y="5010912"/>
            <a:ext cx="9326880" cy="16459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13232" y="5230368"/>
            <a:ext cx="347472" cy="347472"/>
          </a:xfrm>
          <a:prstGeom prst="ellipse">
            <a:avLst/>
          </a:prstGeom>
          <a:solidFill>
            <a:srgbClr val="14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5326380"/>
            <a:ext cx="3474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5221224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81F"/>
                </a:solidFill>
                <a:latin typeface="Aptos"/>
              </a:rPr>
              <a:t>Enable interactive, KPI-driven decisions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61872" y="5724144"/>
            <a:ext cx="9326880" cy="16459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228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A5ACB7"/>
                </a:solidFill>
                <a:latin typeface="Aptos"/>
              </a:rPr>
              <a:t>INFOSYS SPRINGBOARD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5C4E"/>
                </a:solidFill>
                <a:latin typeface="Aptos"/>
              </a:rPr>
              <a:t>04 / DATA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dirty="0">
                <a:solidFill>
                  <a:srgbClr val="14181F"/>
                </a:solidFill>
                <a:latin typeface="Aptos"/>
              </a:rPr>
              <a:t>The model behind the dashboard</a:t>
            </a:r>
          </a:p>
        </p:txBody>
      </p:sp>
      <p:sp>
        <p:nvSpPr>
          <p:cNvPr id="4" name="Oval 3"/>
          <p:cNvSpPr/>
          <p:nvPr/>
        </p:nvSpPr>
        <p:spPr>
          <a:xfrm>
            <a:off x="11064240" y="384048"/>
            <a:ext cx="530352" cy="530352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6635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81360" cy="22860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81F"/>
                </a:solidFill>
                <a:latin typeface="Aptos"/>
              </a:rPr>
              <a:t>DataCo Supply Chain Dataset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532180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510528"/>
            <a:ext cx="228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A5ACB7"/>
                </a:solidFill>
                <a:latin typeface="Aptos"/>
              </a:rPr>
              <a:t>INFOSYS SPRINGBOARD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6609C43-42B0-00DE-4383-B2E43E8340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330"/>
          <a:stretch>
            <a:fillRect/>
          </a:stretch>
        </p:blipFill>
        <p:spPr>
          <a:xfrm>
            <a:off x="5195999" y="1795071"/>
            <a:ext cx="6562923" cy="454629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7B96157-68B0-93FD-A8FE-0C00F12E7CDD}"/>
              </a:ext>
            </a:extLst>
          </p:cNvPr>
          <p:cNvSpPr txBox="1"/>
          <p:nvPr/>
        </p:nvSpPr>
        <p:spPr>
          <a:xfrm>
            <a:off x="549161" y="222088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600" i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DataCo</a:t>
            </a:r>
            <a:r>
              <a:rPr lang="en-US" sz="1600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Supply Chain Dataset from </a:t>
            </a:r>
            <a:r>
              <a:rPr lang="en-US" sz="1600" i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id="{5CDB1275-6D66-3789-C52C-009858D5D68C}"/>
              </a:ext>
            </a:extLst>
          </p:cNvPr>
          <p:cNvSpPr/>
          <p:nvPr/>
        </p:nvSpPr>
        <p:spPr>
          <a:xfrm>
            <a:off x="274320" y="2723952"/>
            <a:ext cx="2079157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3F4880-BD7B-ADB6-6F94-D35DEEA39E28}"/>
              </a:ext>
            </a:extLst>
          </p:cNvPr>
          <p:cNvSpPr txBox="1"/>
          <p:nvPr/>
        </p:nvSpPr>
        <p:spPr>
          <a:xfrm>
            <a:off x="341797" y="292425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EB5C4E"/>
                </a:solidFill>
                <a:latin typeface="Aptos"/>
              </a:rPr>
              <a:t>7,000+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747426-7846-20DE-1301-AEABC56F69B4}"/>
              </a:ext>
            </a:extLst>
          </p:cNvPr>
          <p:cNvSpPr txBox="1"/>
          <p:nvPr/>
        </p:nvSpPr>
        <p:spPr>
          <a:xfrm>
            <a:off x="341797" y="3472816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86C74"/>
                </a:solidFill>
                <a:latin typeface="Aptos"/>
              </a:rPr>
              <a:t>Orders analyzed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CEE0D0EC-0EA9-A8CA-2419-84D937C9C4BF}"/>
              </a:ext>
            </a:extLst>
          </p:cNvPr>
          <p:cNvSpPr/>
          <p:nvPr/>
        </p:nvSpPr>
        <p:spPr>
          <a:xfrm>
            <a:off x="2697480" y="2697480"/>
            <a:ext cx="2285999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479560-E566-2008-1952-5EE096E095B3}"/>
              </a:ext>
            </a:extLst>
          </p:cNvPr>
          <p:cNvSpPr txBox="1"/>
          <p:nvPr/>
        </p:nvSpPr>
        <p:spPr>
          <a:xfrm>
            <a:off x="2840316" y="29077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3A68AA"/>
                </a:solidFill>
                <a:latin typeface="Aptos"/>
              </a:rPr>
              <a:t>118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7229A36-4E65-1BED-D264-101822648977}"/>
              </a:ext>
            </a:extLst>
          </p:cNvPr>
          <p:cNvSpPr txBox="1"/>
          <p:nvPr/>
        </p:nvSpPr>
        <p:spPr>
          <a:xfrm>
            <a:off x="2840316" y="3413460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86C74"/>
                </a:solidFill>
                <a:latin typeface="Aptos"/>
              </a:rPr>
              <a:t>Suppliers profiled</a:t>
            </a:r>
          </a:p>
        </p:txBody>
      </p:sp>
      <p:sp>
        <p:nvSpPr>
          <p:cNvPr id="56" name="Rounded Rectangle 14">
            <a:extLst>
              <a:ext uri="{FF2B5EF4-FFF2-40B4-BE49-F238E27FC236}">
                <a16:creationId xmlns:a16="http://schemas.microsoft.com/office/drawing/2014/main" id="{FE3FC754-3126-4839-C092-B9C9E43597CE}"/>
              </a:ext>
            </a:extLst>
          </p:cNvPr>
          <p:cNvSpPr/>
          <p:nvPr/>
        </p:nvSpPr>
        <p:spPr>
          <a:xfrm>
            <a:off x="289140" y="4433077"/>
            <a:ext cx="2079157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D516B1-507F-A463-E81B-6D706D4D1D75}"/>
              </a:ext>
            </a:extLst>
          </p:cNvPr>
          <p:cNvSpPr txBox="1"/>
          <p:nvPr/>
        </p:nvSpPr>
        <p:spPr>
          <a:xfrm>
            <a:off x="394848" y="462333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3F916F"/>
                </a:solidFill>
                <a:latin typeface="Aptos"/>
              </a:rPr>
              <a:t>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EA72DD-A88A-BB49-EED5-923F175B7B6B}"/>
              </a:ext>
            </a:extLst>
          </p:cNvPr>
          <p:cNvSpPr txBox="1"/>
          <p:nvPr/>
        </p:nvSpPr>
        <p:spPr>
          <a:xfrm>
            <a:off x="433078" y="5144545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86C74"/>
                </a:solidFill>
                <a:latin typeface="Aptos"/>
              </a:rPr>
              <a:t>Warehouses tracked</a:t>
            </a:r>
          </a:p>
        </p:txBody>
      </p:sp>
      <p:sp>
        <p:nvSpPr>
          <p:cNvPr id="62" name="Rounded Rectangle 17">
            <a:extLst>
              <a:ext uri="{FF2B5EF4-FFF2-40B4-BE49-F238E27FC236}">
                <a16:creationId xmlns:a16="http://schemas.microsoft.com/office/drawing/2014/main" id="{E186F327-626D-1C0E-3153-F96D7EEA4F39}"/>
              </a:ext>
            </a:extLst>
          </p:cNvPr>
          <p:cNvSpPr/>
          <p:nvPr/>
        </p:nvSpPr>
        <p:spPr>
          <a:xfrm>
            <a:off x="2699847" y="4433077"/>
            <a:ext cx="2286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4BBF713-1879-F81C-A3AB-8797C5B1A768}"/>
              </a:ext>
            </a:extLst>
          </p:cNvPr>
          <p:cNvSpPr txBox="1"/>
          <p:nvPr/>
        </p:nvSpPr>
        <p:spPr>
          <a:xfrm>
            <a:off x="2768898" y="462333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4A442"/>
                </a:solidFill>
                <a:latin typeface="Aptos"/>
              </a:rPr>
              <a:t>GLOBAL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997D2E-DE53-6210-25B3-A4FDF6C9EAC0}"/>
              </a:ext>
            </a:extLst>
          </p:cNvPr>
          <p:cNvSpPr txBox="1"/>
          <p:nvPr/>
        </p:nvSpPr>
        <p:spPr>
          <a:xfrm>
            <a:off x="2776308" y="5144545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86C74"/>
                </a:solidFill>
                <a:latin typeface="Aptos"/>
              </a:rPr>
              <a:t>Multi-region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5C4E"/>
                </a:solidFill>
                <a:latin typeface="Aptos"/>
              </a:rPr>
              <a:t>05 /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81F"/>
                </a:solidFill>
                <a:latin typeface="Aptos"/>
              </a:rPr>
              <a:t>From source systems to executive decisions</a:t>
            </a:r>
          </a:p>
        </p:txBody>
      </p:sp>
      <p:sp>
        <p:nvSpPr>
          <p:cNvPr id="4" name="Oval 3"/>
          <p:cNvSpPr/>
          <p:nvPr/>
        </p:nvSpPr>
        <p:spPr>
          <a:xfrm>
            <a:off x="11064240" y="384048"/>
            <a:ext cx="530352" cy="530352"/>
          </a:xfrm>
          <a:prstGeom prst="ellipse">
            <a:avLst/>
          </a:prstGeom>
          <a:solidFill>
            <a:srgbClr val="14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6635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81360" cy="22860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041397"/>
            <a:ext cx="658368" cy="658368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251709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79" y="2352293"/>
            <a:ext cx="1243584" cy="32004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3" y="29718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B5C4E"/>
                </a:solidFill>
                <a:latin typeface="Aptos"/>
              </a:rPr>
              <a:t>DATA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" y="3429000"/>
            <a:ext cx="1783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686C74"/>
                </a:solidFill>
                <a:latin typeface="Aptos"/>
              </a:rPr>
              <a:t>Inventory · Orders · Supplier
Warehouse · Transport · Delivery</a:t>
            </a:r>
          </a:p>
        </p:txBody>
      </p:sp>
      <p:sp>
        <p:nvSpPr>
          <p:cNvPr id="12" name="Oval 11"/>
          <p:cNvSpPr/>
          <p:nvPr/>
        </p:nvSpPr>
        <p:spPr>
          <a:xfrm>
            <a:off x="2798064" y="2041397"/>
            <a:ext cx="658368" cy="658368"/>
          </a:xfrm>
          <a:prstGeom prst="ellipse">
            <a:avLst/>
          </a:prstGeom>
          <a:solidFill>
            <a:srgbClr val="3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8064" y="2251709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6432" y="2352293"/>
            <a:ext cx="1243584" cy="32004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22576" y="29718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A68AA"/>
                </a:solidFill>
                <a:latin typeface="Aptos"/>
              </a:rP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2576" y="3429000"/>
            <a:ext cx="1783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686C74"/>
                </a:solidFill>
                <a:latin typeface="Aptos"/>
              </a:rPr>
              <a:t>PostgreSQL + Excel</a:t>
            </a:r>
          </a:p>
        </p:txBody>
      </p:sp>
      <p:sp>
        <p:nvSpPr>
          <p:cNvPr id="17" name="Oval 16"/>
          <p:cNvSpPr/>
          <p:nvPr/>
        </p:nvSpPr>
        <p:spPr>
          <a:xfrm>
            <a:off x="4700016" y="2041397"/>
            <a:ext cx="658368" cy="658368"/>
          </a:xfrm>
          <a:prstGeom prst="ellipse">
            <a:avLst/>
          </a:prstGeom>
          <a:solidFill>
            <a:srgbClr val="F4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0016" y="2251709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58384" y="2352293"/>
            <a:ext cx="1243584" cy="32004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24528" y="29718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4A442"/>
                </a:solidFill>
                <a:latin typeface="Aptos"/>
              </a:rPr>
              <a:t>ETL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429000"/>
            <a:ext cx="1783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686C74"/>
                </a:solidFill>
                <a:latin typeface="Aptos"/>
              </a:rPr>
              <a:t>Clean · Transform · Standardize</a:t>
            </a:r>
          </a:p>
        </p:txBody>
      </p:sp>
      <p:sp>
        <p:nvSpPr>
          <p:cNvPr id="22" name="Oval 21"/>
          <p:cNvSpPr/>
          <p:nvPr/>
        </p:nvSpPr>
        <p:spPr>
          <a:xfrm>
            <a:off x="6601968" y="2041397"/>
            <a:ext cx="658368" cy="658368"/>
          </a:xfrm>
          <a:prstGeom prst="ellipse">
            <a:avLst/>
          </a:prstGeom>
          <a:solidFill>
            <a:srgbClr val="3F9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2251709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0336" y="2352293"/>
            <a:ext cx="1243584" cy="32004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0" y="29718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F916F"/>
                </a:solidFill>
                <a:latin typeface="Aptos"/>
              </a:rP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429000"/>
            <a:ext cx="1783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686C74"/>
                </a:solidFill>
                <a:latin typeface="Aptos"/>
              </a:rPr>
              <a:t>Star schema + relationships</a:t>
            </a:r>
          </a:p>
        </p:txBody>
      </p:sp>
      <p:sp>
        <p:nvSpPr>
          <p:cNvPr id="27" name="Oval 26"/>
          <p:cNvSpPr/>
          <p:nvPr/>
        </p:nvSpPr>
        <p:spPr>
          <a:xfrm>
            <a:off x="8503920" y="2041397"/>
            <a:ext cx="658368" cy="658368"/>
          </a:xfrm>
          <a:prstGeom prst="ellipse">
            <a:avLst/>
          </a:prstGeom>
          <a:solidFill>
            <a:srgbClr val="745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2251709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62288" y="2352293"/>
            <a:ext cx="1243584" cy="32004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28432" y="29718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458A1"/>
                </a:solidFill>
                <a:latin typeface="Aptos"/>
              </a:rPr>
              <a:t>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2" y="3429000"/>
            <a:ext cx="1783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686C74"/>
                </a:solidFill>
                <a:latin typeface="Aptos"/>
              </a:rPr>
              <a:t>DAX measures</a:t>
            </a:r>
          </a:p>
        </p:txBody>
      </p:sp>
      <p:sp>
        <p:nvSpPr>
          <p:cNvPr id="32" name="Oval 31"/>
          <p:cNvSpPr/>
          <p:nvPr/>
        </p:nvSpPr>
        <p:spPr>
          <a:xfrm>
            <a:off x="10405872" y="2041397"/>
            <a:ext cx="658368" cy="658368"/>
          </a:xfrm>
          <a:prstGeom prst="ellipse">
            <a:avLst/>
          </a:prstGeom>
          <a:solidFill>
            <a:srgbClr val="14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05872" y="2251709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0384" y="29718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4181F"/>
                </a:solidFill>
                <a:latin typeface="Aptos"/>
              </a:rPr>
              <a:t>PRESENT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3429000"/>
            <a:ext cx="1783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686C74"/>
                </a:solidFill>
                <a:latin typeface="Aptos"/>
              </a:rPr>
              <a:t>Interactive Power BI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892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14181F"/>
                </a:solidFill>
                <a:latin typeface="Aptos"/>
              </a:rPr>
              <a:t>ONE PI</a:t>
            </a:r>
            <a:r>
              <a:rPr lang="en-IN" sz="1300" b="1" dirty="0">
                <a:solidFill>
                  <a:srgbClr val="14181F"/>
                </a:solidFill>
                <a:latin typeface="Aptos"/>
              </a:rPr>
              <a:t>P</a:t>
            </a:r>
            <a:r>
              <a:rPr sz="1300" b="1" dirty="0">
                <a:solidFill>
                  <a:srgbClr val="14181F"/>
                </a:solidFill>
                <a:latin typeface="Aptos"/>
              </a:rPr>
              <a:t>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32180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81F"/>
                </a:solidFill>
                <a:latin typeface="Aptos"/>
              </a:rPr>
              <a:t>Raw logistics data  →  trusted KPIs  →  faster decisions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10528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A5ACB7"/>
                </a:solidFill>
                <a:latin typeface="Aptos"/>
              </a:rPr>
              <a:t>INFOSYS SPRINGBOARD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5C4E"/>
                </a:solidFill>
                <a:latin typeface="Aptos"/>
              </a:rPr>
              <a:t>06 /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81F"/>
                </a:solidFill>
                <a:latin typeface="Aptos"/>
              </a:rPr>
              <a:t>Inventory Analytics</a:t>
            </a:r>
          </a:p>
        </p:txBody>
      </p:sp>
      <p:sp>
        <p:nvSpPr>
          <p:cNvPr id="4" name="Oval 3"/>
          <p:cNvSpPr/>
          <p:nvPr/>
        </p:nvSpPr>
        <p:spPr>
          <a:xfrm>
            <a:off x="11064240" y="384048"/>
            <a:ext cx="530352" cy="530352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6635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81360" cy="22860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49631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13447" y="2214527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178039" y="2397407"/>
            <a:ext cx="256032" cy="256032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78039" y="2447698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8414" y="2334998"/>
            <a:ext cx="163953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Inventory turnover highlights how efficiently stock is being converted into sales. </a:t>
            </a:r>
          </a:p>
          <a:p>
            <a:pPr algn="l"/>
            <a:endParaRPr sz="900" b="1" dirty="0">
              <a:solidFill>
                <a:srgbClr val="14181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528047" y="2214527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92639" y="2397407"/>
            <a:ext cx="256032" cy="256032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39" y="2447698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93014" y="2340191"/>
            <a:ext cx="16395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Reorder and safety-stock analysis helps identify products requiring replenishment.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13447" y="3512975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78039" y="3695855"/>
            <a:ext cx="256032" cy="256032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39" y="3746147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101" y="3637425"/>
            <a:ext cx="15741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Slow-moving and dead-stock products indicate opportunities to reduce excess inventory</a:t>
            </a:r>
            <a:r>
              <a:rPr lang="en-IN" sz="900" dirty="0"/>
              <a:t>.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8047" y="3512975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39" y="3695855"/>
            <a:ext cx="256032" cy="256032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39" y="3746147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3535" y="3627082"/>
            <a:ext cx="1737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Warehouse and regional analysis highlights differences in inventory utilization.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6174" y="4811423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30766" y="4994303"/>
            <a:ext cx="256032" cy="256032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30766" y="5044595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3667" y="4961067"/>
            <a:ext cx="15087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Inventory trends help monitor changes in stock value over time.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228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A5ACB7"/>
                </a:solidFill>
                <a:latin typeface="Aptos"/>
              </a:rPr>
              <a:t>INFOSYS SPRINGBOARD</a:t>
            </a:r>
          </a:p>
        </p:txBody>
      </p:sp>
      <p:pic>
        <p:nvPicPr>
          <p:cNvPr id="38" name="Image 0" descr="/mnt/user-data/uploads/img-3.jpeg">
            <a:extLst>
              <a:ext uri="{FF2B5EF4-FFF2-40B4-BE49-F238E27FC236}">
                <a16:creationId xmlns:a16="http://schemas.microsoft.com/office/drawing/2014/main" id="{579E08B6-D4B7-5087-03C5-44CB811DEE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9935" y="1850457"/>
            <a:ext cx="6318013" cy="39752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5C4E"/>
                </a:solidFill>
                <a:latin typeface="Aptos"/>
              </a:rPr>
              <a:t>07 / MODULE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81F"/>
                </a:solidFill>
                <a:latin typeface="Aptos"/>
              </a:rPr>
              <a:t>Delivery Performance</a:t>
            </a:r>
          </a:p>
        </p:txBody>
      </p:sp>
      <p:sp>
        <p:nvSpPr>
          <p:cNvPr id="4" name="Oval 3"/>
          <p:cNvSpPr/>
          <p:nvPr/>
        </p:nvSpPr>
        <p:spPr>
          <a:xfrm>
            <a:off x="11064240" y="384048"/>
            <a:ext cx="530352" cy="530352"/>
          </a:xfrm>
          <a:prstGeom prst="ellipse">
            <a:avLst/>
          </a:prstGeom>
          <a:solidFill>
            <a:srgbClr val="14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6635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81360" cy="22860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49631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90195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600" b="1" dirty="0">
              <a:solidFill>
                <a:srgbClr val="14181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63240" y="2788920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100" b="0" dirty="0">
              <a:solidFill>
                <a:srgbClr val="686C74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025763" y="2043081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178681" y="2376838"/>
            <a:ext cx="256032" cy="256032"/>
          </a:xfrm>
          <a:prstGeom prst="ellipse">
            <a:avLst/>
          </a:prstGeom>
          <a:solidFill>
            <a:srgbClr val="3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78681" y="2427129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2912" y="2030329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93281" y="2376838"/>
            <a:ext cx="256032" cy="256032"/>
          </a:xfrm>
          <a:prstGeom prst="ellipse">
            <a:avLst/>
          </a:prstGeom>
          <a:solidFill>
            <a:srgbClr val="3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3281" y="2427129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25763" y="3346102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78681" y="3675286"/>
            <a:ext cx="256032" cy="256032"/>
          </a:xfrm>
          <a:prstGeom prst="ellipse">
            <a:avLst/>
          </a:prstGeom>
          <a:solidFill>
            <a:srgbClr val="3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681" y="3725578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2912" y="3346102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3281" y="3675286"/>
            <a:ext cx="256032" cy="256032"/>
          </a:xfrm>
          <a:prstGeom prst="ellipse">
            <a:avLst/>
          </a:prstGeom>
          <a:solidFill>
            <a:srgbClr val="3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3281" y="3725578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49056" y="4658506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31408" y="4864006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228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A5ACB7"/>
                </a:solidFill>
                <a:latin typeface="Aptos"/>
              </a:rPr>
              <a:t>INFOSYS SPRINGBOARD</a:t>
            </a:r>
          </a:p>
        </p:txBody>
      </p:sp>
      <p:pic>
        <p:nvPicPr>
          <p:cNvPr id="34" name="Image 0" descr="/mnt/user-data/uploads/img-2.jpeg">
            <a:extLst>
              <a:ext uri="{FF2B5EF4-FFF2-40B4-BE49-F238E27FC236}">
                <a16:creationId xmlns:a16="http://schemas.microsoft.com/office/drawing/2014/main" id="{F83DC619-FA52-580A-0C60-B94580B5A8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7674" y="1735701"/>
            <a:ext cx="6508651" cy="4409067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BE722945-7F40-7D95-5F30-C790E59C4319}"/>
              </a:ext>
            </a:extLst>
          </p:cNvPr>
          <p:cNvSpPr/>
          <p:nvPr/>
        </p:nvSpPr>
        <p:spPr>
          <a:xfrm>
            <a:off x="8559424" y="4973734"/>
            <a:ext cx="256032" cy="256032"/>
          </a:xfrm>
          <a:prstGeom prst="ellipse">
            <a:avLst/>
          </a:prstGeom>
          <a:solidFill>
            <a:srgbClr val="3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80EC89-301F-2C7C-B2F5-7088BD701F3A}"/>
              </a:ext>
            </a:extLst>
          </p:cNvPr>
          <p:cNvSpPr txBox="1"/>
          <p:nvPr/>
        </p:nvSpPr>
        <p:spPr>
          <a:xfrm>
            <a:off x="8559424" y="5024026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32D1FF-4317-FB72-FF33-321BB9F3D5BB}"/>
              </a:ext>
            </a:extLst>
          </p:cNvPr>
          <p:cNvSpPr txBox="1"/>
          <p:nvPr/>
        </p:nvSpPr>
        <p:spPr>
          <a:xfrm>
            <a:off x="7434713" y="2190453"/>
            <a:ext cx="18552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100" dirty="0"/>
              <a:t>Delivery performance can be compared using on-time, late, and advance-shipping rates.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445E74-3D85-4352-4A24-81299438B36B}"/>
              </a:ext>
            </a:extLst>
          </p:cNvPr>
          <p:cNvSpPr txBox="1"/>
          <p:nvPr/>
        </p:nvSpPr>
        <p:spPr>
          <a:xfrm>
            <a:off x="10025610" y="2216675"/>
            <a:ext cx="16511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Late Delivery Risk %</a:t>
            </a:r>
            <a:r>
              <a:rPr lang="en-IN" sz="1100" dirty="0"/>
              <a:t> highlights regions with a higher probability of delivery delays. .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3869FB-6604-20D8-B6C1-FCBAD171D016}"/>
              </a:ext>
            </a:extLst>
          </p:cNvPr>
          <p:cNvSpPr txBox="1"/>
          <p:nvPr/>
        </p:nvSpPr>
        <p:spPr>
          <a:xfrm>
            <a:off x="7438202" y="3497978"/>
            <a:ext cx="17356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100" dirty="0"/>
              <a:t>Lead-time variance shows where actual shipping time differs from scheduled shipping time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0BF592-3407-0DC6-9AC0-57E9488AD3DA}"/>
              </a:ext>
            </a:extLst>
          </p:cNvPr>
          <p:cNvSpPr txBox="1"/>
          <p:nvPr/>
        </p:nvSpPr>
        <p:spPr>
          <a:xfrm>
            <a:off x="9996212" y="3487121"/>
            <a:ext cx="1709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100" dirty="0"/>
              <a:t>Regional analysis helps identify areas requiring delivery-performance improvement.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CB2600-8927-2983-A774-D2C3924ED1C1}"/>
              </a:ext>
            </a:extLst>
          </p:cNvPr>
          <p:cNvSpPr txBox="1"/>
          <p:nvPr/>
        </p:nvSpPr>
        <p:spPr>
          <a:xfrm>
            <a:off x="8815456" y="4816336"/>
            <a:ext cx="1791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100" dirty="0"/>
              <a:t>Shipping-mode analysis helps compare delivery efficiency across transportation methods.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5C4E"/>
                </a:solidFill>
                <a:latin typeface="Aptos"/>
              </a:rPr>
              <a:t>08 / MODULE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81F"/>
                </a:solidFill>
                <a:latin typeface="Aptos"/>
              </a:rPr>
              <a:t>Supplier Performance</a:t>
            </a:r>
          </a:p>
        </p:txBody>
      </p:sp>
      <p:sp>
        <p:nvSpPr>
          <p:cNvPr id="4" name="Oval 3"/>
          <p:cNvSpPr/>
          <p:nvPr/>
        </p:nvSpPr>
        <p:spPr>
          <a:xfrm>
            <a:off x="11064240" y="384048"/>
            <a:ext cx="530352" cy="530352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6635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81360" cy="22860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11788" y="2557426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976380" y="2740306"/>
            <a:ext cx="256032" cy="256032"/>
          </a:xfrm>
          <a:prstGeom prst="ellipse">
            <a:avLst/>
          </a:prstGeom>
          <a:solidFill>
            <a:srgbClr val="3F9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76380" y="2790597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4248" y="2651317"/>
            <a:ext cx="16445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Supplier performance can be evaluated using </a:t>
            </a:r>
            <a:r>
              <a:rPr lang="en-IN" sz="1100" b="1" dirty="0"/>
              <a:t>quality, reliability, and lead time</a:t>
            </a:r>
            <a:r>
              <a:rPr lang="en-IN" sz="1100" dirty="0"/>
              <a:t>.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388" y="2557426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90980" y="2740306"/>
            <a:ext cx="256032" cy="256032"/>
          </a:xfrm>
          <a:prstGeom prst="ellipse">
            <a:avLst/>
          </a:prstGeom>
          <a:solidFill>
            <a:srgbClr val="3F9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90980" y="2790597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1876" y="2668561"/>
            <a:ext cx="1737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Suppliers with higher quality and reliability and lower lead time represent stronger performers.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1788" y="3855874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976380" y="4038754"/>
            <a:ext cx="256032" cy="256032"/>
          </a:xfrm>
          <a:prstGeom prst="ellipse">
            <a:avLst/>
          </a:prstGeom>
          <a:solidFill>
            <a:srgbClr val="3F9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76380" y="4089046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140" y="3949766"/>
            <a:ext cx="15766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The supplier scorecard helps identify suppliers requiring closer monitoring.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388" y="3855874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90980" y="4038754"/>
            <a:ext cx="256032" cy="256032"/>
          </a:xfrm>
          <a:prstGeom prst="ellipse">
            <a:avLst/>
          </a:prstGeom>
          <a:solidFill>
            <a:srgbClr val="3F9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90980" y="4089046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1876" y="3904707"/>
            <a:ext cx="168298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Comparing suppliers supports better supplier-selection and relationship-management decisions.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228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A5ACB7"/>
                </a:solidFill>
                <a:latin typeface="Aptos"/>
              </a:rPr>
              <a:t>INFOSYS SPRINGBOARD</a:t>
            </a:r>
          </a:p>
        </p:txBody>
      </p:sp>
      <p:pic>
        <p:nvPicPr>
          <p:cNvPr id="36" name="Image 0" descr="/mnt/user-data/uploads/mg-5.jpeg">
            <a:extLst>
              <a:ext uri="{FF2B5EF4-FFF2-40B4-BE49-F238E27FC236}">
                <a16:creationId xmlns:a16="http://schemas.microsoft.com/office/drawing/2014/main" id="{E1BBCE64-36FC-2BAF-713F-06832CAA70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92" b="3996"/>
          <a:stretch>
            <a:fillRect/>
          </a:stretch>
        </p:blipFill>
        <p:spPr>
          <a:xfrm>
            <a:off x="192504" y="1778508"/>
            <a:ext cx="6390684" cy="41503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5C4E"/>
                </a:solidFill>
                <a:latin typeface="Aptos"/>
              </a:rPr>
              <a:t>09 / MODULE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81F"/>
                </a:solidFill>
                <a:latin typeface="Aptos"/>
              </a:rPr>
              <a:t>Transportation Analytics</a:t>
            </a:r>
          </a:p>
        </p:txBody>
      </p:sp>
      <p:sp>
        <p:nvSpPr>
          <p:cNvPr id="4" name="Oval 3"/>
          <p:cNvSpPr/>
          <p:nvPr/>
        </p:nvSpPr>
        <p:spPr>
          <a:xfrm>
            <a:off x="11064240" y="384048"/>
            <a:ext cx="530352" cy="530352"/>
          </a:xfrm>
          <a:prstGeom prst="ellipse">
            <a:avLst/>
          </a:prstGeom>
          <a:solidFill>
            <a:srgbClr val="14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6635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81360" cy="22860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23177" y="2101984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287769" y="2284864"/>
            <a:ext cx="256032" cy="256032"/>
          </a:xfrm>
          <a:prstGeom prst="ellipse">
            <a:avLst/>
          </a:prstGeom>
          <a:solidFill>
            <a:srgbClr val="F4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87769" y="2335155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6759" y="2189022"/>
            <a:ext cx="16182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Shipping-mode analysis highlights differences in order volume and delivery performance.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37777" y="2101984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802369" y="2284864"/>
            <a:ext cx="256032" cy="256032"/>
          </a:xfrm>
          <a:prstGeom prst="ellipse">
            <a:avLst/>
          </a:prstGeom>
          <a:solidFill>
            <a:srgbClr val="F4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02369" y="2335155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21622" y="2197323"/>
            <a:ext cx="15087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Late-rate analysis helps identify shipping modes associated with higher delivery risk</a:t>
            </a:r>
            <a:endParaRPr sz="1100" b="1" dirty="0">
              <a:solidFill>
                <a:srgbClr val="14181F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123177" y="3400432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287769" y="3583312"/>
            <a:ext cx="256032" cy="256032"/>
          </a:xfrm>
          <a:prstGeom prst="ellipse">
            <a:avLst/>
          </a:prstGeom>
          <a:solidFill>
            <a:srgbClr val="F4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87769" y="3633604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37777" y="3400432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802369" y="3583312"/>
            <a:ext cx="256032" cy="256032"/>
          </a:xfrm>
          <a:prstGeom prst="ellipse">
            <a:avLst/>
          </a:prstGeom>
          <a:solidFill>
            <a:srgbClr val="F4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02369" y="3633604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4288" y="3449265"/>
            <a:ext cx="17373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Profit-per-order comparison helps evaluate the financial performance of different shipping modes.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75904" y="4698880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540496" y="4881760"/>
            <a:ext cx="256032" cy="256032"/>
          </a:xfrm>
          <a:prstGeom prst="ellipse">
            <a:avLst/>
          </a:prstGeom>
          <a:solidFill>
            <a:srgbClr val="F4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40496" y="4932052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6844" y="4756278"/>
            <a:ext cx="17464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Regional analysis highlights areas where transportation performance can be improved.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228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A5ACB7"/>
                </a:solidFill>
                <a:latin typeface="Aptos"/>
              </a:rPr>
              <a:t>INFOSYS SPRINGBOARD</a:t>
            </a:r>
          </a:p>
        </p:txBody>
      </p:sp>
      <p:pic>
        <p:nvPicPr>
          <p:cNvPr id="34" name="Image 0" descr="/mnt/user-data/uploads/mg-6.jpeg">
            <a:extLst>
              <a:ext uri="{FF2B5EF4-FFF2-40B4-BE49-F238E27FC236}">
                <a16:creationId xmlns:a16="http://schemas.microsoft.com/office/drawing/2014/main" id="{54F9D7D1-8A3A-589D-E937-5B6ACB38E2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364" b="6608"/>
          <a:stretch>
            <a:fillRect/>
          </a:stretch>
        </p:blipFill>
        <p:spPr>
          <a:xfrm>
            <a:off x="214886" y="1712639"/>
            <a:ext cx="6679691" cy="433281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23F44DE-A4E5-D898-EE38-77DDA74C6F51}"/>
              </a:ext>
            </a:extLst>
          </p:cNvPr>
          <p:cNvSpPr txBox="1"/>
          <p:nvPr/>
        </p:nvSpPr>
        <p:spPr>
          <a:xfrm>
            <a:off x="7621523" y="3502619"/>
            <a:ext cx="15635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Discount analysis shows how discounts are distributed across shipping modes. </a:t>
            </a:r>
            <a:r>
              <a:rPr lang="en-IN" sz="900" dirty="0"/>
              <a:t>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5C4E"/>
                </a:solidFill>
                <a:latin typeface="Aptos"/>
              </a:rPr>
              <a:t>10 / MODULE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81F"/>
                </a:solidFill>
                <a:latin typeface="Aptos"/>
              </a:rPr>
              <a:t>Warehouse Analytics</a:t>
            </a:r>
          </a:p>
        </p:txBody>
      </p:sp>
      <p:sp>
        <p:nvSpPr>
          <p:cNvPr id="4" name="Oval 3"/>
          <p:cNvSpPr/>
          <p:nvPr/>
        </p:nvSpPr>
        <p:spPr>
          <a:xfrm>
            <a:off x="11064240" y="384048"/>
            <a:ext cx="530352" cy="530352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6635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81360" cy="22860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45096" y="2205572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09688" y="2388452"/>
            <a:ext cx="256032" cy="256032"/>
          </a:xfrm>
          <a:prstGeom prst="ellipse">
            <a:avLst/>
          </a:prstGeom>
          <a:solidFill>
            <a:srgbClr val="745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9688" y="2438743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2984" y="2324392"/>
            <a:ext cx="16536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Warehouse utilization comparison identifies highly and under-utilized facilities.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59696" y="2205572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924288" y="2388452"/>
            <a:ext cx="256032" cy="256032"/>
          </a:xfrm>
          <a:prstGeom prst="ellipse">
            <a:avLst/>
          </a:prstGeom>
          <a:solidFill>
            <a:srgbClr val="745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24288" y="2438743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38526" y="2300911"/>
            <a:ext cx="16463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Capacity and stock analysis helps identify potential warehouse capacity risks.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5096" y="3504020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09688" y="3686900"/>
            <a:ext cx="256032" cy="256032"/>
          </a:xfrm>
          <a:prstGeom prst="ellipse">
            <a:avLst/>
          </a:prstGeom>
          <a:solidFill>
            <a:srgbClr val="745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9688" y="3737192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2984" y="3597912"/>
            <a:ext cx="1649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Units shipped comparison highlights warehouse workload and operational differences</a:t>
            </a:r>
            <a:endParaRPr sz="1100" b="1" dirty="0">
              <a:solidFill>
                <a:srgbClr val="14181F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759696" y="3504020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924288" y="3686900"/>
            <a:ext cx="256032" cy="256032"/>
          </a:xfrm>
          <a:prstGeom prst="ellipse">
            <a:avLst/>
          </a:prstGeom>
          <a:solidFill>
            <a:srgbClr val="745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24288" y="3737192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8526" y="3597912"/>
            <a:ext cx="1737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Warehouse-level analysis helps support better capacity allocation and inventory distribution.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97823" y="4802468"/>
            <a:ext cx="226771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662415" y="4985348"/>
            <a:ext cx="256032" cy="256032"/>
          </a:xfrm>
          <a:prstGeom prst="ellipse">
            <a:avLst/>
          </a:prstGeom>
          <a:solidFill>
            <a:srgbClr val="745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62415" y="5035640"/>
            <a:ext cx="256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4942" y="4911523"/>
            <a:ext cx="1737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dirty="0"/>
              <a:t>Utilization and shipment metrics together provide a clearer view of warehouse efficiency.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228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A5ACB7"/>
                </a:solidFill>
                <a:latin typeface="Aptos"/>
              </a:rPr>
              <a:t>INFOSYS SPRINGBOARD</a:t>
            </a:r>
          </a:p>
        </p:txBody>
      </p:sp>
      <p:pic>
        <p:nvPicPr>
          <p:cNvPr id="34" name="Image 0" descr="/mnt/user-data/uploads/img-8.jpeg">
            <a:extLst>
              <a:ext uri="{FF2B5EF4-FFF2-40B4-BE49-F238E27FC236}">
                <a16:creationId xmlns:a16="http://schemas.microsoft.com/office/drawing/2014/main" id="{003CB5E2-A70E-98EE-EC40-FA316B9D3A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592" y="1737359"/>
            <a:ext cx="6833616" cy="44766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5C4E"/>
                </a:solidFill>
                <a:latin typeface="Aptos"/>
              </a:rPr>
              <a:t>11 / LEADERSHIP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One screen. Five operational lenses.</a:t>
            </a:r>
          </a:p>
        </p:txBody>
      </p:sp>
      <p:sp>
        <p:nvSpPr>
          <p:cNvPr id="4" name="Oval 3"/>
          <p:cNvSpPr/>
          <p:nvPr/>
        </p:nvSpPr>
        <p:spPr>
          <a:xfrm>
            <a:off x="11064240" y="384048"/>
            <a:ext cx="530352" cy="530352"/>
          </a:xfrm>
          <a:prstGeom prst="ellipse">
            <a:avLst/>
          </a:prstGeom>
          <a:solidFill>
            <a:srgbClr val="14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6635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81360" cy="22860"/>
          </a:xfrm>
          <a:prstGeom prst="rect">
            <a:avLst/>
          </a:prstGeom>
          <a:solidFill>
            <a:srgbClr val="414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6510528"/>
            <a:ext cx="228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A5ACB7"/>
                </a:solidFill>
                <a:latin typeface="Aptos"/>
              </a:rPr>
              <a:t>INFOSYS SPRINGBOARD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96DD079-1FF1-9B3B-234F-18D9194ED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29" y="1549907"/>
            <a:ext cx="7875639" cy="403613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2B73059-E92B-5EE6-3FFE-4F12DEC593AE}"/>
              </a:ext>
            </a:extLst>
          </p:cNvPr>
          <p:cNvSpPr txBox="1"/>
          <p:nvPr/>
        </p:nvSpPr>
        <p:spPr>
          <a:xfrm>
            <a:off x="590508" y="5700339"/>
            <a:ext cx="103341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modules roll up into one executive-level Power BI dashboard — giving leadership total sales, profit, orders, inventory, warehouses, and delivery health on a single screen, with drill-through into every module behind it.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EB5C4E"/>
                </a:solidFill>
                <a:latin typeface="Aptos"/>
              </a:rPr>
              <a:t>1</a:t>
            </a:r>
            <a:r>
              <a:rPr lang="en-US" sz="900" b="1" dirty="0">
                <a:solidFill>
                  <a:srgbClr val="EB5C4E"/>
                </a:solidFill>
                <a:latin typeface="Aptos"/>
              </a:rPr>
              <a:t>2 </a:t>
            </a:r>
            <a:r>
              <a:rPr sz="900" b="1" dirty="0">
                <a:solidFill>
                  <a:srgbClr val="EB5C4E"/>
                </a:solidFill>
                <a:latin typeface="Aptos"/>
              </a:rPr>
              <a:t>/ 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81F"/>
                </a:solidFill>
                <a:latin typeface="Aptos"/>
              </a:rPr>
              <a:t>A dashboard that turns visibility into action</a:t>
            </a:r>
          </a:p>
        </p:txBody>
      </p:sp>
      <p:sp>
        <p:nvSpPr>
          <p:cNvPr id="4" name="Oval 3"/>
          <p:cNvSpPr/>
          <p:nvPr/>
        </p:nvSpPr>
        <p:spPr>
          <a:xfrm>
            <a:off x="11064240" y="384048"/>
            <a:ext cx="530352" cy="530352"/>
          </a:xfrm>
          <a:prstGeom prst="ellipse">
            <a:avLst/>
          </a:prstGeom>
          <a:solidFill>
            <a:srgbClr val="14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6635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81360" cy="22860"/>
          </a:xfrm>
          <a:prstGeom prst="rect">
            <a:avLst/>
          </a:prstGeom>
          <a:solidFill>
            <a:srgbClr val="E4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166360" cy="3611880"/>
          </a:xfrm>
          <a:prstGeom prst="roundRect">
            <a:avLst/>
          </a:prstGeom>
          <a:solidFill>
            <a:srgbClr val="14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B5C4E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4343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One centralized, interactive Power BI dashboard across inventory, supplier, delivery, transportation and warehouse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4251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3CAD4"/>
                </a:solidFill>
                <a:latin typeface="Aptos"/>
              </a:rPr>
              <a:t>One KPI-driven source of truth for faster, data-backed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534924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9933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68AA"/>
                </a:solidFill>
                <a:latin typeface="Aptos"/>
              </a:rPr>
              <a:t>FUTURE SCOPE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0" y="2578608"/>
            <a:ext cx="228600" cy="228600"/>
          </a:xfrm>
          <a:prstGeom prst="ellipse">
            <a:avLst/>
          </a:prstGeom>
          <a:solidFill>
            <a:srgbClr val="3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551176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81F"/>
                </a:solidFill>
                <a:latin typeface="Aptos"/>
              </a:rPr>
              <a:t>Predictive demand &amp; delay forecasting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3145536"/>
            <a:ext cx="228600" cy="228600"/>
          </a:xfrm>
          <a:prstGeom prst="ellipse">
            <a:avLst/>
          </a:prstGeom>
          <a:solidFill>
            <a:srgbClr val="3F9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118104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81F"/>
                </a:solidFill>
                <a:latin typeface="Aptos"/>
              </a:rPr>
              <a:t>Real-time refresh + KPI alerts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0" y="3712463"/>
            <a:ext cx="228600" cy="228600"/>
          </a:xfrm>
          <a:prstGeom prst="ellipse">
            <a:avLst/>
          </a:prstGeom>
          <a:solidFill>
            <a:srgbClr val="F4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368503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81F"/>
                </a:solidFill>
                <a:latin typeface="Aptos"/>
              </a:rPr>
              <a:t>Global LPI benchmarking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4279392"/>
            <a:ext cx="228600" cy="228600"/>
          </a:xfrm>
          <a:prstGeom prst="ellipse">
            <a:avLst/>
          </a:prstGeom>
          <a:solidFill>
            <a:srgbClr val="745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03720" y="425196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81F"/>
                </a:solidFill>
                <a:latin typeface="Aptos"/>
              </a:rPr>
              <a:t>ML-based supplier risk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228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A5ACB7"/>
                </a:solidFill>
                <a:latin typeface="Aptos"/>
              </a:rPr>
              <a:t>INFOSYS SPRINGBOARD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02920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EB5C4E"/>
                </a:solidFill>
                <a:latin typeface="Aptos"/>
              </a:rPr>
              <a:t>1</a:t>
            </a:r>
            <a:r>
              <a:rPr lang="en-US" sz="1000" b="1" dirty="0">
                <a:solidFill>
                  <a:srgbClr val="EB5C4E"/>
                </a:solidFill>
                <a:latin typeface="Aptos"/>
              </a:rPr>
              <a:t>3 </a:t>
            </a:r>
            <a:r>
              <a:rPr sz="1000" b="1" dirty="0">
                <a:solidFill>
                  <a:srgbClr val="EB5C4E"/>
                </a:solidFill>
                <a:latin typeface="Aptos"/>
              </a:rPr>
              <a:t>/ 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  <a:latin typeface="Aptos"/>
              </a:rPr>
              <a:t>Built by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965960"/>
            <a:ext cx="713232" cy="713232"/>
          </a:xfrm>
          <a:prstGeom prst="ellipse">
            <a:avLst/>
          </a:prstGeom>
          <a:solidFill>
            <a:srgbClr val="EB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212848"/>
            <a:ext cx="713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7" y="29077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Pranavi Mitta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476" y="4393450"/>
            <a:ext cx="1691640" cy="32004"/>
          </a:xfrm>
          <a:prstGeom prst="rect">
            <a:avLst/>
          </a:prstGeom>
          <a:solidFill>
            <a:srgbClr val="414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871215" y="1965960"/>
            <a:ext cx="713232" cy="713232"/>
          </a:xfrm>
          <a:prstGeom prst="ellipse">
            <a:avLst/>
          </a:prstGeom>
          <a:solidFill>
            <a:srgbClr val="3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71215" y="2212848"/>
            <a:ext cx="713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5496" y="29077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Anumalla Shwethan Kumar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3359" y="4395695"/>
            <a:ext cx="1691640" cy="32004"/>
          </a:xfrm>
          <a:prstGeom prst="rect">
            <a:avLst/>
          </a:prstGeom>
          <a:solidFill>
            <a:srgbClr val="414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084064" y="1965960"/>
            <a:ext cx="713232" cy="713232"/>
          </a:xfrm>
          <a:prstGeom prst="ellipse">
            <a:avLst/>
          </a:prstGeom>
          <a:solidFill>
            <a:srgbClr val="3F9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84064" y="2212848"/>
            <a:ext cx="713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8344" y="29077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Parsh Yadav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4" y="4429864"/>
            <a:ext cx="1691640" cy="32004"/>
          </a:xfrm>
          <a:prstGeom prst="rect">
            <a:avLst/>
          </a:prstGeom>
          <a:solidFill>
            <a:srgbClr val="414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296912" y="1965960"/>
            <a:ext cx="713232" cy="713232"/>
          </a:xfrm>
          <a:prstGeom prst="ellipse">
            <a:avLst/>
          </a:prstGeom>
          <a:solidFill>
            <a:srgbClr val="F4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96912" y="2212848"/>
            <a:ext cx="713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29077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Ahmed Syed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03329" y="4413862"/>
            <a:ext cx="1691640" cy="32004"/>
          </a:xfrm>
          <a:prstGeom prst="rect">
            <a:avLst/>
          </a:prstGeom>
          <a:solidFill>
            <a:srgbClr val="414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09760" y="1965960"/>
            <a:ext cx="713232" cy="713232"/>
          </a:xfrm>
          <a:prstGeom prst="ellipse">
            <a:avLst/>
          </a:prstGeom>
          <a:solidFill>
            <a:srgbClr val="745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0" y="2212848"/>
            <a:ext cx="713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9077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Maragada Sirisha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41180" y="4381858"/>
            <a:ext cx="1691640" cy="32004"/>
          </a:xfrm>
          <a:prstGeom prst="rect">
            <a:avLst/>
          </a:prstGeom>
          <a:solidFill>
            <a:srgbClr val="414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892040"/>
            <a:ext cx="29260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  <a:latin typeface="Aptos"/>
              </a:rPr>
              <a:t>Thank you.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304800" y="6145211"/>
            <a:ext cx="228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dirty="0">
                <a:solidFill>
                  <a:srgbClr val="B4BCC7"/>
                </a:solidFill>
                <a:latin typeface="Aptos"/>
              </a:rPr>
              <a:t>INFOSYS SPRINGBOARD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AC485E-C120-C993-5601-CCB4E8F695D1}"/>
              </a:ext>
            </a:extLst>
          </p:cNvPr>
          <p:cNvSpPr txBox="1"/>
          <p:nvPr/>
        </p:nvSpPr>
        <p:spPr>
          <a:xfrm>
            <a:off x="573345" y="3345858"/>
            <a:ext cx="16916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Inventory analysis dashboard and executive dashboard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B5236F-1871-6AE8-DF2C-27862373F6F9}"/>
              </a:ext>
            </a:extLst>
          </p:cNvPr>
          <p:cNvSpPr txBox="1"/>
          <p:nvPr/>
        </p:nvSpPr>
        <p:spPr>
          <a:xfrm>
            <a:off x="2773359" y="3345857"/>
            <a:ext cx="18315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delivery Performance dashboard and executive dashboard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4FD894-D788-904A-A91C-C2D196190EB3}"/>
              </a:ext>
            </a:extLst>
          </p:cNvPr>
          <p:cNvSpPr txBox="1"/>
          <p:nvPr/>
        </p:nvSpPr>
        <p:spPr>
          <a:xfrm>
            <a:off x="5019133" y="3360113"/>
            <a:ext cx="17300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Supplier Performance dashboard and executive dashboard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7CBB12-6398-9C6F-9965-99CE87CC7AFF}"/>
              </a:ext>
            </a:extLst>
          </p:cNvPr>
          <p:cNvSpPr txBox="1"/>
          <p:nvPr/>
        </p:nvSpPr>
        <p:spPr>
          <a:xfrm>
            <a:off x="7251191" y="3352390"/>
            <a:ext cx="18315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Transport Analytics dashboard and executive dashboard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E83E12-D1A4-109B-EAF7-785176433E6B}"/>
              </a:ext>
            </a:extLst>
          </p:cNvPr>
          <p:cNvSpPr txBox="1"/>
          <p:nvPr/>
        </p:nvSpPr>
        <p:spPr>
          <a:xfrm>
            <a:off x="9381744" y="3369159"/>
            <a:ext cx="17510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Warehouse Analytics dashboard and executive dashboard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821</Words>
  <Application>Microsoft Office PowerPoint</Application>
  <PresentationFormat>Widescreen</PresentationFormat>
  <Paragraphs>197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siri maragada</dc:creator>
  <cp:keywords/>
  <dc:description>generated using python-pptx</dc:description>
  <cp:lastModifiedBy>siri maragada</cp:lastModifiedBy>
  <cp:revision>3</cp:revision>
  <dcterms:created xsi:type="dcterms:W3CDTF">2013-01-27T09:14:16Z</dcterms:created>
  <dcterms:modified xsi:type="dcterms:W3CDTF">2026-08-17T15:52:09Z</dcterms:modified>
  <cp:category/>
</cp:coreProperties>
</file>